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70" r:id="rId15"/>
    <p:sldId id="271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255E"/>
    <a:srgbClr val="D01649"/>
    <a:srgbClr val="BE1862"/>
    <a:srgbClr val="F7B502"/>
    <a:srgbClr val="893EBB"/>
    <a:srgbClr val="944ECA"/>
    <a:srgbClr val="FA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15282-4EEC-00DE-716C-70422E0E753C}" v="2" dt="2025-04-05T11:36:11.701"/>
    <p1510:client id="{90A6F2F7-CEBF-F953-44A6-904B6EAA6E9E}" v="45" dt="2025-04-05T06:42:19.379"/>
    <p1510:client id="{E36837CB-7617-5B1E-7976-EEDDBC351DA7}" v="141" dt="2025-04-05T15:43:3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465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05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86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43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49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05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996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70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3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55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68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4/5/2025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8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34" r:id="rId6"/>
    <p:sldLayoutId id="2147483930" r:id="rId7"/>
    <p:sldLayoutId id="2147483931" r:id="rId8"/>
    <p:sldLayoutId id="2147483932" r:id="rId9"/>
    <p:sldLayoutId id="2147483933" r:id="rId10"/>
    <p:sldLayoutId id="21474839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0fajarpurnama0.github.io/academic/2020/12/29/experience-writing-research-pla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incondelemprendedor.es/guia-medidas-para-instagram-reels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osoul-al-seo.com/plan-for-site/" TargetMode="External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" name="Rectangle 173">
            <a:extLst>
              <a:ext uri="{FF2B5EF4-FFF2-40B4-BE49-F238E27FC236}">
                <a16:creationId xmlns:a16="http://schemas.microsoft.com/office/drawing/2014/main" id="{2EA73A68-63F4-4DB1-9407-CF5566EBB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Arc 175">
            <a:extLst>
              <a:ext uri="{FF2B5EF4-FFF2-40B4-BE49-F238E27FC236}">
                <a16:creationId xmlns:a16="http://schemas.microsoft.com/office/drawing/2014/main" id="{4F0934E6-E033-40C5-9710-CBBE8BE39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0343" y="193505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2222897"/>
            <a:ext cx="545253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dirty="0">
                <a:solidFill>
                  <a:srgbClr val="CE255E"/>
                </a:solidFill>
              </a:rPr>
              <a:t>Instagram</a:t>
            </a:r>
            <a:r>
              <a:rPr lang="en-US" dirty="0"/>
              <a:t> </a:t>
            </a:r>
            <a:r>
              <a:rPr lang="en-US" dirty="0">
                <a:solidFill>
                  <a:srgbClr val="CE255E"/>
                </a:solidFill>
              </a:rPr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4918232"/>
            <a:ext cx="5452532" cy="14119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000" dirty="0">
                <a:latin typeface="Gill Sans Nova"/>
              </a:rPr>
              <a:t>By Kiranjeet Kaur</a:t>
            </a:r>
          </a:p>
          <a:p>
            <a:pPr algn="r"/>
            <a:r>
              <a:rPr lang="en-US" sz="2000" dirty="0">
                <a:latin typeface="Gill Sans Nova"/>
              </a:rPr>
              <a:t>02-04-2025</a:t>
            </a:r>
          </a:p>
        </p:txBody>
      </p:sp>
      <p:pic>
        <p:nvPicPr>
          <p:cNvPr id="4" name="Picture 3" descr="A logo of a camera&#10;&#10;AI-generated content may be incorrect.">
            <a:extLst>
              <a:ext uri="{FF2B5EF4-FFF2-40B4-BE49-F238E27FC236}">
                <a16:creationId xmlns:a16="http://schemas.microsoft.com/office/drawing/2014/main" id="{39DC5CF6-4926-2881-B1EE-EF7C9B067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199" y="606711"/>
            <a:ext cx="4936066" cy="491412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201871FA-D1AD-45C5-A92E-2CD8A14CB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676" y="370764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of a camera&#10;&#10;AI-generated content may be incorrect.">
            <a:extLst>
              <a:ext uri="{FF2B5EF4-FFF2-40B4-BE49-F238E27FC236}">
                <a16:creationId xmlns:a16="http://schemas.microsoft.com/office/drawing/2014/main" id="{93596703-6B8B-B39A-B1A4-03679A227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1566"/>
            <a:ext cx="12191999" cy="68436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3397FE-E1A3-9828-9E10-0BB688C7A133}"/>
              </a:ext>
            </a:extLst>
          </p:cNvPr>
          <p:cNvSpPr txBox="1"/>
          <p:nvPr/>
        </p:nvSpPr>
        <p:spPr>
          <a:xfrm>
            <a:off x="1019132" y="760339"/>
            <a:ext cx="2211238" cy="925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33963D-036D-C1C7-C9B3-6B220D3BD27C}"/>
              </a:ext>
            </a:extLst>
          </p:cNvPr>
          <p:cNvSpPr txBox="1"/>
          <p:nvPr/>
        </p:nvSpPr>
        <p:spPr>
          <a:xfrm>
            <a:off x="2701580" y="376449"/>
            <a:ext cx="653250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CE255E"/>
                </a:solidFill>
                <a:latin typeface="Avenir Next LT Pro"/>
                <a:ea typeface="+mn-lt"/>
                <a:cs typeface="+mn-lt"/>
              </a:rPr>
              <a:t>Instagram Stories Have 500 Million Daily Active Users!</a:t>
            </a:r>
            <a:endParaRPr lang="en-US" sz="2800" b="1">
              <a:solidFill>
                <a:srgbClr val="CE255E"/>
              </a:solidFill>
              <a:latin typeface="Avenir Next L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53390-0DE0-003D-55BE-279A593CBDD5}"/>
              </a:ext>
            </a:extLst>
          </p:cNvPr>
          <p:cNvSpPr txBox="1"/>
          <p:nvPr/>
        </p:nvSpPr>
        <p:spPr>
          <a:xfrm>
            <a:off x="642178" y="1904392"/>
            <a:ext cx="298945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More than 500 million people use Instagram Stories every day! Stories have quickly become one of the most engaging features, with users spending significant time interacting with them, making them a goldmine for brands looking to boost visibility and engagement.</a:t>
            </a:r>
            <a:endParaRPr lang="en-US" sz="2000"/>
          </a:p>
        </p:txBody>
      </p:sp>
      <p:pic>
        <p:nvPicPr>
          <p:cNvPr id="16" name="Graphic 15" descr="Connections with solid fill">
            <a:extLst>
              <a:ext uri="{FF2B5EF4-FFF2-40B4-BE49-F238E27FC236}">
                <a16:creationId xmlns:a16="http://schemas.microsoft.com/office/drawing/2014/main" id="{1DECBB2D-1652-2978-7ABC-2B3EBB8CA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1178" y="2209800"/>
            <a:ext cx="2582173" cy="288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in a chair&#10;&#10;AI-generated content may be incorrect.">
            <a:extLst>
              <a:ext uri="{FF2B5EF4-FFF2-40B4-BE49-F238E27FC236}">
                <a16:creationId xmlns:a16="http://schemas.microsoft.com/office/drawing/2014/main" id="{738756CA-DFFF-75FD-5415-38B46AD2B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1276" y="568887"/>
            <a:ext cx="4787184" cy="39374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986364-86E4-B965-EE0F-36E6639232A4}"/>
              </a:ext>
            </a:extLst>
          </p:cNvPr>
          <p:cNvSpPr txBox="1"/>
          <p:nvPr/>
        </p:nvSpPr>
        <p:spPr>
          <a:xfrm>
            <a:off x="6354452" y="796735"/>
            <a:ext cx="50136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Leverage Instagram user data to uncover insights for targeted marketing strategies.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Analyze user behavior, demographics, and engagement patterns to drive personalized marketing.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Develop strategies that focus on increasing user acquisition, retention, and engagement.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Optimize Meta's marketing efforts to strengthen brand-user relationships and boost overall performance.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4" name="Graphic 3" descr="Bar graph with upward trend with solid fill">
            <a:extLst>
              <a:ext uri="{FF2B5EF4-FFF2-40B4-BE49-F238E27FC236}">
                <a16:creationId xmlns:a16="http://schemas.microsoft.com/office/drawing/2014/main" id="{6613CF4C-1662-01AC-5E13-EF56CE919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1103" y="4495801"/>
            <a:ext cx="2467154" cy="1935192"/>
          </a:xfrm>
          <a:prstGeom prst="rect">
            <a:avLst/>
          </a:prstGeom>
        </p:spPr>
      </p:pic>
      <p:pic>
        <p:nvPicPr>
          <p:cNvPr id="5" name="Graphic 4" descr="Target Audience with solid fill">
            <a:extLst>
              <a:ext uri="{FF2B5EF4-FFF2-40B4-BE49-F238E27FC236}">
                <a16:creationId xmlns:a16="http://schemas.microsoft.com/office/drawing/2014/main" id="{5CF4DED7-8B5F-EE9F-3FB0-FF8AE204A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9329" y="4495801"/>
            <a:ext cx="2251494" cy="193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8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BCBBA-F443-A756-4767-C3B27DBDE8AE}"/>
              </a:ext>
            </a:extLst>
          </p:cNvPr>
          <p:cNvSpPr txBox="1"/>
          <p:nvPr/>
        </p:nvSpPr>
        <p:spPr>
          <a:xfrm>
            <a:off x="6417732" y="957715"/>
            <a:ext cx="5130798" cy="27504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2C4CD6-61AC-FA35-E2B4-CCBD3982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373"/>
            <a:ext cx="5850384" cy="5777253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46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46873-DD86-0931-42B9-FB2B819FBD11}"/>
              </a:ext>
            </a:extLst>
          </p:cNvPr>
          <p:cNvSpPr txBox="1"/>
          <p:nvPr/>
        </p:nvSpPr>
        <p:spPr>
          <a:xfrm>
            <a:off x="565030" y="819210"/>
            <a:ext cx="5393361" cy="475390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Users Table</a:t>
            </a:r>
            <a:r>
              <a:rPr lang="en-US" dirty="0"/>
              <a:t>: Stores user information including unique ID, username, and account creation timestamp.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Photos Table</a:t>
            </a:r>
            <a:r>
              <a:rPr lang="en-US" dirty="0"/>
              <a:t>: Captures photo details such as image URL, associated user ID, and photo upload timestamp.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Comments Table</a:t>
            </a:r>
            <a:r>
              <a:rPr lang="en-US" dirty="0"/>
              <a:t>: Logs user comments on photos, along with comment text, user ID, and photo ID.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Likes Table</a:t>
            </a:r>
            <a:r>
              <a:rPr lang="en-US" dirty="0"/>
              <a:t>: Records likes for photos, capturing which user liked which photo and the timestamp.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Follows Table</a:t>
            </a:r>
            <a:r>
              <a:rPr lang="en-US" dirty="0"/>
              <a:t>: Tracks user follow relationships and when the follow action occurred.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Tags Table</a:t>
            </a:r>
            <a:r>
              <a:rPr lang="en-US" dirty="0"/>
              <a:t>: Maintains unique tags used for categorizing photos with timestamp of tag creation.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Photo-Tags Table</a:t>
            </a:r>
            <a:r>
              <a:rPr lang="en-US" dirty="0"/>
              <a:t>: Links photos with tags, enabling multiple tags per photo for better discoverability.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A682ABF1-0E5B-6D47-1E4E-FDE56B97A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83193-7AA4-8ECD-BA85-89BBAF41D543}"/>
              </a:ext>
            </a:extLst>
          </p:cNvPr>
          <p:cNvSpPr txBox="1"/>
          <p:nvPr/>
        </p:nvSpPr>
        <p:spPr>
          <a:xfrm>
            <a:off x="341803" y="356418"/>
            <a:ext cx="211601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tx2"/>
                </a:solidFill>
                <a:latin typeface="Arial"/>
                <a:cs typeface="Arial"/>
              </a:rPr>
              <a:t>Why This Data is Critical</a:t>
            </a:r>
            <a:endParaRPr lang="en-US" sz="4400">
              <a:solidFill>
                <a:schemeClr val="tx2"/>
              </a:solidFill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362E5CA-D257-169B-758D-AF275D435C96}"/>
              </a:ext>
            </a:extLst>
          </p:cNvPr>
          <p:cNvSpPr/>
          <p:nvPr/>
        </p:nvSpPr>
        <p:spPr>
          <a:xfrm>
            <a:off x="3827292" y="604912"/>
            <a:ext cx="7637002" cy="5095789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User Insights</a:t>
            </a:r>
            <a:r>
              <a:rPr lang="en-US">
                <a:ea typeface="+mn-lt"/>
                <a:cs typeface="+mn-lt"/>
              </a:rPr>
              <a:t>: The </a:t>
            </a:r>
            <a:r>
              <a:rPr lang="en-US" b="1">
                <a:ea typeface="+mn-lt"/>
                <a:cs typeface="+mn-lt"/>
              </a:rPr>
              <a:t>users</a:t>
            </a:r>
            <a:r>
              <a:rPr lang="en-US">
                <a:ea typeface="+mn-lt"/>
                <a:cs typeface="+mn-lt"/>
              </a:rPr>
              <a:t> table provides valuable demographic and behavioral data, enabling personalized marketing strategies and targeted campaigns based on user activity and preferences.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Engagement Tracking</a:t>
            </a:r>
            <a:r>
              <a:rPr lang="en-US" dirty="0">
                <a:ea typeface="+mn-lt"/>
                <a:cs typeface="+mn-lt"/>
              </a:rPr>
              <a:t>: The </a:t>
            </a:r>
            <a:r>
              <a:rPr lang="en-US" b="1" dirty="0">
                <a:ea typeface="+mn-lt"/>
                <a:cs typeface="+mn-lt"/>
              </a:rPr>
              <a:t>photos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likes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comments</a:t>
            </a:r>
            <a:r>
              <a:rPr lang="en-US" dirty="0">
                <a:ea typeface="+mn-lt"/>
                <a:cs typeface="+mn-lt"/>
              </a:rPr>
              <a:t> tables offer direct insights into user interactions with content, helping to measure engagement and identify the most popular content and active users.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Social Network Analysis</a:t>
            </a:r>
            <a:r>
              <a:rPr lang="en-US" dirty="0">
                <a:ea typeface="+mn-lt"/>
                <a:cs typeface="+mn-lt"/>
              </a:rPr>
              <a:t>: The </a:t>
            </a:r>
            <a:r>
              <a:rPr lang="en-US" b="1" dirty="0">
                <a:ea typeface="+mn-lt"/>
                <a:cs typeface="+mn-lt"/>
              </a:rPr>
              <a:t>follows</a:t>
            </a:r>
            <a:r>
              <a:rPr lang="en-US" dirty="0">
                <a:ea typeface="+mn-lt"/>
                <a:cs typeface="+mn-lt"/>
              </a:rPr>
              <a:t> table captures user relationships, which is key for understanding social dynamics, identifying influencers, and segmenting audiences based on their social connections.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Data-Driven Decisions</a:t>
            </a:r>
            <a:r>
              <a:rPr lang="en-US" dirty="0">
                <a:ea typeface="+mn-lt"/>
                <a:cs typeface="+mn-lt"/>
              </a:rPr>
              <a:t>: This rich dataset allows for the development of data-driven marketing strategies, ensuring that Meta’s marketing efforts are aligned with user interests, ultimately enhancing ROI and user satisfaction.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07E454C3-A083-1F12-D420-894ABB143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875" y="3431875"/>
            <a:ext cx="1532626" cy="173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4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BC36C8-FB51-BBE8-806D-627C2153CA2D}"/>
              </a:ext>
            </a:extLst>
          </p:cNvPr>
          <p:cNvSpPr txBox="1"/>
          <p:nvPr/>
        </p:nvSpPr>
        <p:spPr>
          <a:xfrm>
            <a:off x="3303538" y="427516"/>
            <a:ext cx="600466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Nunito"/>
              </a:rPr>
              <a:t>Analytical Approach and Tools</a:t>
            </a:r>
            <a:endParaRPr lang="en-US" sz="3200" dirty="0">
              <a:latin typeface="Nunito"/>
            </a:endParaRPr>
          </a:p>
          <a:p>
            <a:pPr algn="l"/>
            <a:endParaRPr lang="en-US" dirty="0"/>
          </a:p>
        </p:txBody>
      </p:sp>
      <p:pic>
        <p:nvPicPr>
          <p:cNvPr id="3" name="Graphic 2" descr="Tools with solid fill">
            <a:extLst>
              <a:ext uri="{FF2B5EF4-FFF2-40B4-BE49-F238E27FC236}">
                <a16:creationId xmlns:a16="http://schemas.microsoft.com/office/drawing/2014/main" id="{A69CA904-7ECF-EFEC-05DD-415307AAA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0083" y="1332781"/>
            <a:ext cx="914400" cy="914400"/>
          </a:xfrm>
          <a:prstGeom prst="rect">
            <a:avLst/>
          </a:prstGeom>
        </p:spPr>
      </p:pic>
      <p:pic>
        <p:nvPicPr>
          <p:cNvPr id="4" name="Graphic 3" descr="Gears with solid fill">
            <a:extLst>
              <a:ext uri="{FF2B5EF4-FFF2-40B4-BE49-F238E27FC236}">
                <a16:creationId xmlns:a16="http://schemas.microsoft.com/office/drawing/2014/main" id="{09E55725-A126-F2A5-A619-A7035777E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0875" y="2324819"/>
            <a:ext cx="1101305" cy="1115683"/>
          </a:xfrm>
          <a:prstGeom prst="rect">
            <a:avLst/>
          </a:prstGeom>
        </p:spPr>
      </p:pic>
      <p:pic>
        <p:nvPicPr>
          <p:cNvPr id="5" name="Graphic 4" descr="Large paint brush with solid fill">
            <a:extLst>
              <a:ext uri="{FF2B5EF4-FFF2-40B4-BE49-F238E27FC236}">
                <a16:creationId xmlns:a16="http://schemas.microsoft.com/office/drawing/2014/main" id="{24A4414A-9E5B-FD2B-A85C-5B7303389A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2536" y="3604403"/>
            <a:ext cx="1086928" cy="900023"/>
          </a:xfrm>
          <a:prstGeom prst="rect">
            <a:avLst/>
          </a:prstGeom>
        </p:spPr>
      </p:pic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521BE3BA-50A8-319F-1CFA-2E544C0043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7140" y="4653951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C8B8F2-EB1F-A5B4-6857-758C14B7E737}"/>
              </a:ext>
            </a:extLst>
          </p:cNvPr>
          <p:cNvSpPr txBox="1"/>
          <p:nvPr/>
        </p:nvSpPr>
        <p:spPr>
          <a:xfrm>
            <a:off x="641275" y="1496308"/>
            <a:ext cx="487757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Conducted exploratory data analysis (EDA) to understand user behavior, engagement patterns, and social interactions.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Utilized SQL queries to identify trends in photo engagement (likes, comments), user activity (follows, posts), and content categorization (tags).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   Measured the correlation between user  </a:t>
            </a:r>
          </a:p>
          <a:p>
            <a:r>
              <a:rPr lang="en-US" dirty="0">
                <a:ea typeface="+mn-lt"/>
                <a:cs typeface="+mn-lt"/>
              </a:rPr>
              <a:t>     interactions (likes, comments) and follow</a:t>
            </a:r>
          </a:p>
          <a:p>
            <a:r>
              <a:rPr lang="en-US">
                <a:ea typeface="+mn-lt"/>
                <a:cs typeface="+mn-lt"/>
              </a:rPr>
              <a:t>     relationships to identify key influencers</a:t>
            </a:r>
          </a:p>
          <a:p>
            <a:r>
              <a:rPr lang="en-US" dirty="0">
                <a:ea typeface="+mn-lt"/>
                <a:cs typeface="+mn-lt"/>
              </a:rPr>
              <a:t>     and high-engagement users.</a:t>
            </a:r>
            <a:endParaRPr lang="en-US" dirty="0"/>
          </a:p>
          <a:p>
            <a:pPr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9CF18-EA01-2EB9-E032-9782D323D704}"/>
              </a:ext>
            </a:extLst>
          </p:cNvPr>
          <p:cNvSpPr txBox="1"/>
          <p:nvPr/>
        </p:nvSpPr>
        <p:spPr>
          <a:xfrm>
            <a:off x="8375440" y="1574038"/>
            <a:ext cx="301204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Leveraged SQL queries with joins to combine data from multiple tables, allowing for in-depth analysis of user interactions and content engagement.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Utilized aggregate functions (e.g., COUNT, AVG) and filtering to derive actionable insights from large datasets.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1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D79A1-D6F3-3EEF-0948-8CFE987ED464}"/>
              </a:ext>
            </a:extLst>
          </p:cNvPr>
          <p:cNvSpPr txBox="1"/>
          <p:nvPr/>
        </p:nvSpPr>
        <p:spPr>
          <a:xfrm>
            <a:off x="2973183" y="446948"/>
            <a:ext cx="59852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Arial"/>
                <a:ea typeface="+mn-lt"/>
                <a:cs typeface="+mn-lt"/>
              </a:rPr>
              <a:t>Identifying Loyal &amp; Valuable Users</a:t>
            </a:r>
            <a:endParaRPr lang="en-US" sz="2400" b="1" dirty="0">
              <a:latin typeface="Arial"/>
            </a:endParaRP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502F2250-F425-A090-857A-B7714E8E0D3D}"/>
              </a:ext>
            </a:extLst>
          </p:cNvPr>
          <p:cNvSpPr/>
          <p:nvPr/>
        </p:nvSpPr>
        <p:spPr>
          <a:xfrm>
            <a:off x="1690634" y="5149632"/>
            <a:ext cx="3847650" cy="108822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a username&#10;&#10;AI-generated content may be incorrect.">
            <a:extLst>
              <a:ext uri="{FF2B5EF4-FFF2-40B4-BE49-F238E27FC236}">
                <a16:creationId xmlns:a16="http://schemas.microsoft.com/office/drawing/2014/main" id="{987DCE44-409D-36D3-5905-D2D6E6E2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65" y="1083513"/>
            <a:ext cx="10166948" cy="54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1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9A5880-DF83-C74C-5894-80A1C7143CBE}"/>
              </a:ext>
            </a:extLst>
          </p:cNvPr>
          <p:cNvSpPr/>
          <p:nvPr/>
        </p:nvSpPr>
        <p:spPr>
          <a:xfrm>
            <a:off x="1101147" y="553246"/>
            <a:ext cx="4995149" cy="23754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Engagement Metrics:</a:t>
            </a:r>
            <a:endParaRPr lang="en-US"/>
          </a:p>
          <a:p>
            <a:pPr marL="228600" indent="-228600" algn="ctr">
              <a:buFont typeface=""/>
              <a:buChar char="•"/>
            </a:pPr>
            <a:r>
              <a:rPr lang="en-US" dirty="0">
                <a:solidFill>
                  <a:schemeClr val="tx1"/>
                </a:solidFill>
              </a:rPr>
              <a:t>High photo uploads, comments, likes, and follower counts indicate valuable users.</a:t>
            </a:r>
          </a:p>
          <a:p>
            <a:pPr marL="228600" indent="-228600" algn="ctr">
              <a:buFont typeface=""/>
              <a:buChar char="•"/>
            </a:pPr>
            <a:r>
              <a:rPr lang="en-US" dirty="0">
                <a:solidFill>
                  <a:schemeClr val="tx1"/>
                </a:solidFill>
              </a:rPr>
              <a:t>Example: </a:t>
            </a:r>
            <a:r>
              <a:rPr lang="en-US" i="1" dirty="0">
                <a:solidFill>
                  <a:schemeClr val="tx1"/>
                </a:solidFill>
              </a:rPr>
              <a:t>Top user "Eveline" ranks highest in all engagement metrics.</a:t>
            </a:r>
          </a:p>
          <a:p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5E6DC8-C936-0D6B-751B-4DF90CCD88EA}"/>
              </a:ext>
            </a:extLst>
          </p:cNvPr>
          <p:cNvSpPr/>
          <p:nvPr/>
        </p:nvSpPr>
        <p:spPr>
          <a:xfrm>
            <a:off x="6738836" y="2409128"/>
            <a:ext cx="4847244" cy="27623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Incentives to Boost Loyalty:</a:t>
            </a:r>
            <a:endParaRPr lang="en-US"/>
          </a:p>
          <a:p>
            <a:pPr marL="228600" indent="-228600" algn="ctr">
              <a:buFont typeface=""/>
              <a:buChar char="•"/>
            </a:pPr>
            <a:r>
              <a:rPr lang="en-US" dirty="0">
                <a:solidFill>
                  <a:schemeClr val="tx1"/>
                </a:solidFill>
              </a:rPr>
              <a:t>🎖 </a:t>
            </a:r>
            <a:r>
              <a:rPr lang="en-US" b="1" dirty="0">
                <a:solidFill>
                  <a:schemeClr val="tx1"/>
                </a:solidFill>
              </a:rPr>
              <a:t>Exclusive Features</a:t>
            </a:r>
            <a:r>
              <a:rPr lang="en-US" dirty="0">
                <a:solidFill>
                  <a:schemeClr val="tx1"/>
                </a:solidFill>
              </a:rPr>
              <a:t> (premium filters, early access to new tools).</a:t>
            </a:r>
          </a:p>
          <a:p>
            <a:pPr marL="228600" indent="-228600" algn="ctr">
              <a:buFont typeface=""/>
              <a:buChar char="•"/>
            </a:pPr>
            <a:r>
              <a:rPr lang="en-US" dirty="0">
                <a:solidFill>
                  <a:schemeClr val="tx1"/>
                </a:solidFill>
              </a:rPr>
              <a:t>🌟 </a:t>
            </a:r>
            <a:r>
              <a:rPr lang="en-US" b="1" dirty="0">
                <a:solidFill>
                  <a:schemeClr val="tx1"/>
                </a:solidFill>
              </a:rPr>
              <a:t>Recognition &amp; Visibility</a:t>
            </a:r>
            <a:r>
              <a:rPr lang="en-US" dirty="0">
                <a:solidFill>
                  <a:schemeClr val="tx1"/>
                </a:solidFill>
              </a:rPr>
              <a:t> (leaderboards, featured posts).</a:t>
            </a:r>
          </a:p>
          <a:p>
            <a:pPr marL="228600" indent="-228600" algn="ctr">
              <a:buFont typeface=""/>
              <a:buChar char="•"/>
            </a:pPr>
            <a:r>
              <a:rPr lang="en-US" dirty="0">
                <a:solidFill>
                  <a:schemeClr val="tx1"/>
                </a:solidFill>
              </a:rPr>
              <a:t>🎮 </a:t>
            </a:r>
            <a:r>
              <a:rPr lang="en-US" b="1" dirty="0">
                <a:solidFill>
                  <a:schemeClr val="tx1"/>
                </a:solidFill>
              </a:rPr>
              <a:t>Gamification &amp; Rewards</a:t>
            </a:r>
            <a:r>
              <a:rPr lang="en-US" dirty="0">
                <a:solidFill>
                  <a:schemeClr val="tx1"/>
                </a:solidFill>
              </a:rPr>
              <a:t> (badges, points, discount offers).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BDBCDFB2-3F4F-6ADE-100C-DEA5BE9A5043}"/>
              </a:ext>
            </a:extLst>
          </p:cNvPr>
          <p:cNvSpPr/>
          <p:nvPr/>
        </p:nvSpPr>
        <p:spPr>
          <a:xfrm>
            <a:off x="1099260" y="3588532"/>
            <a:ext cx="4760981" cy="3161991"/>
          </a:xfrm>
          <a:prstGeom prst="flowChartDecisi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Impact:</a:t>
            </a:r>
            <a:r>
              <a:rPr lang="en-US" dirty="0">
                <a:solidFill>
                  <a:srgbClr val="000000"/>
                </a:solidFill>
              </a:rPr>
              <a:t> Retaining high-value users strengthens community engagement.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2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FB8796-357B-B2E4-32A9-6C6B842A9367}"/>
              </a:ext>
            </a:extLst>
          </p:cNvPr>
          <p:cNvSpPr txBox="1"/>
          <p:nvPr/>
        </p:nvSpPr>
        <p:spPr>
          <a:xfrm>
            <a:off x="3628202" y="372598"/>
            <a:ext cx="560967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ea typeface="+mn-lt"/>
                <a:cs typeface="+mn-lt"/>
              </a:rPr>
              <a:t>Re-Engagement Strategies for Inactive Users</a:t>
            </a:r>
            <a:endParaRPr lang="en-US" b="1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417A8C3C-B074-6D0D-657F-E6043174EEED}"/>
              </a:ext>
            </a:extLst>
          </p:cNvPr>
          <p:cNvSpPr/>
          <p:nvPr/>
        </p:nvSpPr>
        <p:spPr>
          <a:xfrm>
            <a:off x="541227" y="2223031"/>
            <a:ext cx="4665536" cy="3467108"/>
          </a:xfrm>
          <a:prstGeom prst="snip2Diag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6364B3-38B2-4ACD-4F0E-4A4704CF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16" y="2387270"/>
            <a:ext cx="4164042" cy="31473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58FAFB23-0839-557F-1BD2-98CDEEDE6F1C}"/>
              </a:ext>
            </a:extLst>
          </p:cNvPr>
          <p:cNvSpPr/>
          <p:nvPr/>
        </p:nvSpPr>
        <p:spPr>
          <a:xfrm>
            <a:off x="1284240" y="1367094"/>
            <a:ext cx="2713475" cy="828542"/>
          </a:xfrm>
          <a:prstGeom prst="downArrowCallou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Inactive 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76284-FA99-8434-A3B0-A2D596449D97}"/>
              </a:ext>
            </a:extLst>
          </p:cNvPr>
          <p:cNvSpPr txBox="1"/>
          <p:nvPr/>
        </p:nvSpPr>
        <p:spPr>
          <a:xfrm>
            <a:off x="6454588" y="1551328"/>
            <a:ext cx="5062148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Challenges: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📉 30% of users are passive (no likes, comments, or posts).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 engagement impacts retention and ad effectiveness.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Re-Engagement Strategies: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📲 </a:t>
            </a:r>
            <a:r>
              <a:rPr lang="en-US" b="1" dirty="0">
                <a:ea typeface="+mn-lt"/>
                <a:cs typeface="+mn-lt"/>
              </a:rPr>
              <a:t>Personalized Notifications</a:t>
            </a:r>
            <a:r>
              <a:rPr lang="en-US" dirty="0">
                <a:ea typeface="+mn-lt"/>
                <a:cs typeface="+mn-lt"/>
              </a:rPr>
              <a:t> – Recommend content based on past interests.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🎁 </a:t>
            </a:r>
            <a:r>
              <a:rPr lang="en-US" b="1" dirty="0">
                <a:ea typeface="+mn-lt"/>
                <a:cs typeface="+mn-lt"/>
              </a:rPr>
              <a:t>Exclusive Rewards</a:t>
            </a:r>
            <a:r>
              <a:rPr lang="en-US" dirty="0">
                <a:ea typeface="+mn-lt"/>
                <a:cs typeface="+mn-lt"/>
              </a:rPr>
              <a:t> – Give badges, discounts, or profile boosts.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📊 </a:t>
            </a:r>
            <a:r>
              <a:rPr lang="en-US" b="1" dirty="0">
                <a:ea typeface="+mn-lt"/>
                <a:cs typeface="+mn-lt"/>
              </a:rPr>
              <a:t>AI-Powered Content Suggestions</a:t>
            </a:r>
            <a:r>
              <a:rPr lang="en-US" dirty="0">
                <a:ea typeface="+mn-lt"/>
                <a:cs typeface="+mn-lt"/>
              </a:rPr>
              <a:t> – Suggest trending posts &amp; hashtags.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🔹 </a:t>
            </a:r>
            <a:r>
              <a:rPr lang="en-US" b="1" dirty="0">
                <a:ea typeface="+mn-lt"/>
                <a:cs typeface="+mn-lt"/>
              </a:rPr>
              <a:t>Impact:</a:t>
            </a:r>
            <a:r>
              <a:rPr lang="en-US" dirty="0">
                <a:ea typeface="+mn-lt"/>
                <a:cs typeface="+mn-lt"/>
              </a:rPr>
              <a:t> Converting inactive users into engaged participants.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4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A8CE8-2ED9-9579-929B-324E6897EBB0}"/>
              </a:ext>
            </a:extLst>
          </p:cNvPr>
          <p:cNvSpPr txBox="1"/>
          <p:nvPr/>
        </p:nvSpPr>
        <p:spPr>
          <a:xfrm>
            <a:off x="1738792" y="393298"/>
            <a:ext cx="83834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ea typeface="+mn-lt"/>
                <a:cs typeface="+mn-lt"/>
              </a:rPr>
              <a:t>High-Engagement Hashtags &amp; Content Topics</a:t>
            </a:r>
            <a:endParaRPr lang="en-US" sz="2400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3EAF65-2344-C246-C558-EA2C5244B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7" y="1457684"/>
            <a:ext cx="4391025" cy="2533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allout: Up Arrow 3">
            <a:extLst>
              <a:ext uri="{FF2B5EF4-FFF2-40B4-BE49-F238E27FC236}">
                <a16:creationId xmlns:a16="http://schemas.microsoft.com/office/drawing/2014/main" id="{1B187D99-4A9D-1A63-A5AC-BDACA2292D38}"/>
              </a:ext>
            </a:extLst>
          </p:cNvPr>
          <p:cNvSpPr/>
          <p:nvPr/>
        </p:nvSpPr>
        <p:spPr>
          <a:xfrm>
            <a:off x="6787226" y="4191211"/>
            <a:ext cx="4660550" cy="2245589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Popular hashtags: </a:t>
            </a:r>
            <a:r>
              <a:rPr lang="en-US" b="1" dirty="0">
                <a:ea typeface="+mn-lt"/>
                <a:cs typeface="+mn-lt"/>
              </a:rPr>
              <a:t>#lol, #party, #photography, #smile, etc.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These hashtags receive </a:t>
            </a:r>
            <a:r>
              <a:rPr lang="en-US" b="1" dirty="0">
                <a:ea typeface="+mn-lt"/>
                <a:cs typeface="+mn-lt"/>
              </a:rPr>
              <a:t>high user engagement</a:t>
            </a:r>
            <a:r>
              <a:rPr lang="en-US" dirty="0">
                <a:ea typeface="+mn-lt"/>
                <a:cs typeface="+mn-lt"/>
              </a:rPr>
              <a:t> in likes and comments.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6C94C-0FDC-D64E-5C0B-2DEECEAAABD5}"/>
              </a:ext>
            </a:extLst>
          </p:cNvPr>
          <p:cNvSpPr txBox="1"/>
          <p:nvPr/>
        </p:nvSpPr>
        <p:spPr>
          <a:xfrm>
            <a:off x="1287396" y="1454325"/>
            <a:ext cx="4424176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How This Guides Content Strategy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✅ </a:t>
            </a:r>
            <a:r>
              <a:rPr lang="en-US" b="1" dirty="0">
                <a:ea typeface="+mn-lt"/>
                <a:cs typeface="+mn-lt"/>
              </a:rPr>
              <a:t>Content Creation: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Focus on high-engagement hashtags for </a:t>
            </a:r>
            <a:r>
              <a:rPr lang="en-US" b="1" dirty="0">
                <a:ea typeface="+mn-lt"/>
                <a:cs typeface="+mn-lt"/>
              </a:rPr>
              <a:t>more relevant content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Identify emerging trends for </a:t>
            </a:r>
            <a:r>
              <a:rPr lang="en-US" b="1" dirty="0">
                <a:ea typeface="+mn-lt"/>
                <a:cs typeface="+mn-lt"/>
              </a:rPr>
              <a:t>early adoption</a:t>
            </a:r>
            <a:r>
              <a:rPr lang="en-US" dirty="0">
                <a:ea typeface="+mn-lt"/>
                <a:cs typeface="+mn-lt"/>
              </a:rPr>
              <a:t> before saturation.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✅ </a:t>
            </a:r>
            <a:r>
              <a:rPr lang="en-US" b="1" dirty="0">
                <a:ea typeface="+mn-lt"/>
                <a:cs typeface="+mn-lt"/>
              </a:rPr>
              <a:t>User-Generated Content (UGC):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Launch hashtag campaigns (e.g., </a:t>
            </a:r>
            <a:r>
              <a:rPr lang="en-US" b="1" dirty="0">
                <a:ea typeface="+mn-lt"/>
                <a:cs typeface="+mn-lt"/>
              </a:rPr>
              <a:t>#NatureVibes Challenge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Feature top user posts with trending hashtags to </a:t>
            </a:r>
            <a:r>
              <a:rPr lang="en-US" b="1" dirty="0">
                <a:ea typeface="+mn-lt"/>
                <a:cs typeface="+mn-lt"/>
              </a:rPr>
              <a:t>increase participation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✅ </a:t>
            </a:r>
            <a:r>
              <a:rPr lang="en-US" b="1" dirty="0">
                <a:ea typeface="+mn-lt"/>
                <a:cs typeface="+mn-lt"/>
              </a:rPr>
              <a:t>Influencer Marketing: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Partner with </a:t>
            </a:r>
            <a:r>
              <a:rPr lang="en-US" b="1" dirty="0">
                <a:ea typeface="+mn-lt"/>
                <a:cs typeface="+mn-lt"/>
              </a:rPr>
              <a:t>niche influencers</a:t>
            </a:r>
            <a:r>
              <a:rPr lang="en-US" dirty="0">
                <a:ea typeface="+mn-lt"/>
                <a:cs typeface="+mn-lt"/>
              </a:rPr>
              <a:t> in high-engagement categories.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Leverage influencers to </a:t>
            </a:r>
            <a:r>
              <a:rPr lang="en-US" b="1" dirty="0">
                <a:ea typeface="+mn-lt"/>
                <a:cs typeface="+mn-lt"/>
              </a:rPr>
              <a:t>expand reach and credibility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39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E52236-A2D2-0E3B-9DAE-8E6C90457A53}"/>
              </a:ext>
            </a:extLst>
          </p:cNvPr>
          <p:cNvSpPr txBox="1"/>
          <p:nvPr/>
        </p:nvSpPr>
        <p:spPr>
          <a:xfrm>
            <a:off x="3084288" y="310499"/>
            <a:ext cx="60857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ea typeface="+mn-lt"/>
                <a:cs typeface="+mn-lt"/>
              </a:rPr>
              <a:t>Influencer Marketing Strategy</a:t>
            </a:r>
            <a:endParaRPr lang="en-US" sz="2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0E6917-24B6-2AE8-F18D-1B19FC845729}"/>
              </a:ext>
            </a:extLst>
          </p:cNvPr>
          <p:cNvSpPr/>
          <p:nvPr/>
        </p:nvSpPr>
        <p:spPr>
          <a:xfrm>
            <a:off x="1049358" y="1826661"/>
            <a:ext cx="6317815" cy="3400376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6A28C6-5A96-2F23-CAE5-F17110A4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04" y="2037182"/>
            <a:ext cx="5771971" cy="29849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E68D7B-2974-3FB2-011E-A484A5A93239}"/>
              </a:ext>
            </a:extLst>
          </p:cNvPr>
          <p:cNvSpPr txBox="1"/>
          <p:nvPr/>
        </p:nvSpPr>
        <p:spPr>
          <a:xfrm>
            <a:off x="8317142" y="1399145"/>
            <a:ext cx="297318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Key Metrics for Influencer Selection:</a:t>
            </a:r>
            <a:endParaRPr lang="en-US" dirty="0"/>
          </a:p>
          <a:p>
            <a:endParaRPr lang="en-US" b="1" dirty="0"/>
          </a:p>
          <a:p>
            <a:pPr marL="228600" indent="-228600">
              <a:buFont typeface="Arial"/>
              <a:buChar char="•"/>
            </a:pPr>
            <a:r>
              <a:rPr lang="en-US" b="1" dirty="0"/>
              <a:t>Follower count</a:t>
            </a:r>
            <a:r>
              <a:rPr lang="en-US" dirty="0"/>
              <a:t> – High reach potential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Engagement rate</a:t>
            </a:r>
            <a:r>
              <a:rPr lang="en-US" dirty="0"/>
              <a:t> – Active audience interaction (likes + comments ÷ followers)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Content relevance</a:t>
            </a:r>
            <a:r>
              <a:rPr lang="en-US" dirty="0"/>
              <a:t> – Alignment with brand and campaign goals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Post consistency</a:t>
            </a:r>
            <a:r>
              <a:rPr lang="en-US" dirty="0"/>
              <a:t> – Regular content creation on trending topics</a:t>
            </a:r>
          </a:p>
        </p:txBody>
      </p:sp>
      <p:pic>
        <p:nvPicPr>
          <p:cNvPr id="8" name="Graphic 4" descr="Connections with solid fill">
            <a:extLst>
              <a:ext uri="{FF2B5EF4-FFF2-40B4-BE49-F238E27FC236}">
                <a16:creationId xmlns:a16="http://schemas.microsoft.com/office/drawing/2014/main" id="{1C4077F5-625D-40AE-5B3E-466A08A15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385" y="311990"/>
            <a:ext cx="1633268" cy="141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05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F9EC04-184A-864C-A617-F52C373E186E}"/>
              </a:ext>
            </a:extLst>
          </p:cNvPr>
          <p:cNvSpPr txBox="1"/>
          <p:nvPr/>
        </p:nvSpPr>
        <p:spPr>
          <a:xfrm>
            <a:off x="4206815" y="411193"/>
            <a:ext cx="37927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Collaboration Strategies</a:t>
            </a:r>
            <a:endParaRPr lang="en-US" sz="2400" dirty="0"/>
          </a:p>
        </p:txBody>
      </p:sp>
      <p:pic>
        <p:nvPicPr>
          <p:cNvPr id="6" name="Picture 5" descr="Free Images : american, arms, colleagues, digital device, discussion ...">
            <a:extLst>
              <a:ext uri="{FF2B5EF4-FFF2-40B4-BE49-F238E27FC236}">
                <a16:creationId xmlns:a16="http://schemas.microsoft.com/office/drawing/2014/main" id="{FE91B18A-3280-98B7-C53D-017590BC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40" y="1707526"/>
            <a:ext cx="4341963" cy="28534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557EE5-9F0D-803C-908F-BB665F3108D3}"/>
              </a:ext>
            </a:extLst>
          </p:cNvPr>
          <p:cNvSpPr txBox="1"/>
          <p:nvPr/>
        </p:nvSpPr>
        <p:spPr>
          <a:xfrm>
            <a:off x="5868638" y="1399145"/>
            <a:ext cx="555771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Customized Collaboration: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Sponsored posts &amp; product reviews</a:t>
            </a:r>
            <a:r>
              <a:rPr lang="en-US" dirty="0"/>
              <a:t> – Showcase the brand naturally.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Exclusive content &amp; giveaways</a:t>
            </a:r>
            <a:r>
              <a:rPr lang="en-US" dirty="0"/>
              <a:t> – Encourage audience participation.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Co-branded campaigns</a:t>
            </a:r>
            <a:r>
              <a:rPr lang="en-US" dirty="0"/>
              <a:t> – Build long-term partnerships.</a:t>
            </a:r>
          </a:p>
          <a:p>
            <a:r>
              <a:rPr lang="en-US" dirty="0"/>
              <a:t>✅ </a:t>
            </a:r>
            <a:r>
              <a:rPr lang="en-US" b="1" dirty="0"/>
              <a:t>Value-Based Partnership: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Offer </a:t>
            </a:r>
            <a:r>
              <a:rPr lang="en-US" b="1" dirty="0"/>
              <a:t>early product access, exclusive experiences, and commission incentives.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Set </a:t>
            </a:r>
            <a:r>
              <a:rPr lang="en-US" b="1" dirty="0"/>
              <a:t>clear content expectations</a:t>
            </a:r>
            <a:r>
              <a:rPr lang="en-US" dirty="0"/>
              <a:t> (e.g., posts per month, engagement goals).</a:t>
            </a:r>
          </a:p>
          <a:p>
            <a:r>
              <a:rPr lang="en-US" dirty="0"/>
              <a:t>✅ </a:t>
            </a:r>
            <a:r>
              <a:rPr lang="en-US" b="1" dirty="0"/>
              <a:t>Building Long-Term Relationships:</a:t>
            </a:r>
            <a:endParaRPr lang="en-US" dirty="0"/>
          </a:p>
          <a:p>
            <a:pPr marL="228600" indent="-228600">
              <a:buFont typeface="Arial"/>
              <a:buChar char="•"/>
            </a:pPr>
            <a:r>
              <a:rPr lang="en-US" b="1" dirty="0"/>
              <a:t>Consistency is key!</a:t>
            </a:r>
            <a:r>
              <a:rPr lang="en-US" dirty="0"/>
              <a:t> Partner with top-performing influencers over time.</a:t>
            </a:r>
          </a:p>
          <a:p>
            <a:pPr marL="228600" indent="-228600">
              <a:buFont typeface="Arial"/>
              <a:buChar char="•"/>
            </a:pPr>
            <a:r>
              <a:rPr lang="en-US" dirty="0"/>
              <a:t>Encourage them to be </a:t>
            </a:r>
            <a:r>
              <a:rPr lang="en-US" b="1" dirty="0"/>
              <a:t>brand ambassadors</a:t>
            </a:r>
            <a:r>
              <a:rPr lang="en-US" dirty="0"/>
              <a:t> for sustained trust and visibility.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17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2829A-5B79-4ADF-D1EB-A9883FB7D7F8}"/>
              </a:ext>
            </a:extLst>
          </p:cNvPr>
          <p:cNvSpPr txBox="1"/>
          <p:nvPr/>
        </p:nvSpPr>
        <p:spPr>
          <a:xfrm>
            <a:off x="2234746" y="446948"/>
            <a:ext cx="69568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Popular Hashtags</a:t>
            </a:r>
            <a:endParaRPr lang="en-US"/>
          </a:p>
        </p:txBody>
      </p:sp>
      <p:pic>
        <p:nvPicPr>
          <p:cNvPr id="3" name="Picture 2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3E233F65-06AA-AB8C-1B4F-29CAE53F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65" y="1419225"/>
            <a:ext cx="9819735" cy="479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27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A610E5-CCED-5E05-0CA0-1E43D715F9B8}"/>
              </a:ext>
            </a:extLst>
          </p:cNvPr>
          <p:cNvSpPr txBox="1"/>
          <p:nvPr/>
        </p:nvSpPr>
        <p:spPr>
          <a:xfrm>
            <a:off x="2506802" y="505247"/>
            <a:ext cx="602409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latin typeface="Arial"/>
                <a:cs typeface="Arial"/>
              </a:rPr>
              <a:t>How This Information Can Guide Ad Campaigns</a:t>
            </a:r>
            <a:endParaRPr lang="en-US" sz="2000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91BB9-A600-BA81-372E-DC7513D952F4}"/>
              </a:ext>
            </a:extLst>
          </p:cNvPr>
          <p:cNvSpPr txBox="1"/>
          <p:nvPr/>
        </p:nvSpPr>
        <p:spPr>
          <a:xfrm>
            <a:off x="994352" y="1423634"/>
            <a:ext cx="10884982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Targeted Ads</a:t>
            </a:r>
            <a:endParaRPr lang="en-US" dirty="0"/>
          </a:p>
          <a:p>
            <a:endParaRPr lang="en-US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Hashtag-Based Targeting</a:t>
            </a:r>
            <a:r>
              <a:rPr lang="en-US" sz="2000" dirty="0">
                <a:latin typeface="Arial"/>
                <a:cs typeface="Arial"/>
              </a:rPr>
              <a:t>: </a:t>
            </a:r>
            <a:r>
              <a:rPr lang="en-US" dirty="0">
                <a:latin typeface="Arial"/>
                <a:cs typeface="Arial"/>
              </a:rPr>
              <a:t>Use the insights from the engagement analysis to run targeted ads based on the most popular content topics.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Create Hashtag-Specific Ads</a:t>
            </a:r>
            <a:r>
              <a:rPr lang="en-US" dirty="0">
                <a:latin typeface="Arial"/>
                <a:cs typeface="Arial"/>
              </a:rPr>
              <a:t>: We could create ad campaigns that leverage these high-engagement tags to increase visibility. For example, a branded hashtag like </a:t>
            </a:r>
            <a:r>
              <a:rPr lang="en-US" dirty="0">
                <a:solidFill>
                  <a:srgbClr val="188038"/>
                </a:solidFill>
                <a:latin typeface="Roboto Mono"/>
                <a:ea typeface="Roboto Mono"/>
              </a:rPr>
              <a:t>#ExploreWith[BrandName]</a:t>
            </a:r>
            <a:r>
              <a:rPr lang="en-US" dirty="0">
                <a:latin typeface="Arial"/>
                <a:cs typeface="Arial"/>
              </a:rPr>
              <a:t> could be promoted if users are highly engaged with travel-related content.</a:t>
            </a:r>
            <a:endParaRPr lang="en-US"/>
          </a:p>
          <a:p>
            <a:endParaRPr lang="en-US" b="1" dirty="0">
              <a:latin typeface="Arial"/>
              <a:cs typeface="Arial"/>
            </a:endParaRPr>
          </a:p>
          <a:p>
            <a:r>
              <a:rPr lang="en-US" b="1" dirty="0">
                <a:latin typeface="Arial"/>
                <a:cs typeface="Arial"/>
              </a:rPr>
              <a:t>Sponsored Content and Partnerships</a:t>
            </a:r>
            <a:endParaRPr lang="en-US" dirty="0"/>
          </a:p>
          <a:p>
            <a:endParaRPr lang="en-US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Collaborate with Popular Hashtags</a:t>
            </a:r>
            <a:r>
              <a:rPr lang="en-US" sz="2000" dirty="0">
                <a:latin typeface="Arial"/>
                <a:cs typeface="Arial"/>
              </a:rPr>
              <a:t>:</a:t>
            </a:r>
            <a:r>
              <a:rPr lang="en-US" dirty="0">
                <a:latin typeface="Arial"/>
                <a:cs typeface="Arial"/>
              </a:rPr>
              <a:t> If certain hashtags have high engagement, we can sponsor content related to those </a:t>
            </a:r>
            <a:r>
              <a:rPr lang="en-US" dirty="0" err="1">
                <a:latin typeface="Arial"/>
                <a:cs typeface="Arial"/>
              </a:rPr>
              <a:t>hashtags.This</a:t>
            </a:r>
            <a:r>
              <a:rPr lang="en-US" dirty="0">
                <a:latin typeface="Arial"/>
                <a:cs typeface="Arial"/>
              </a:rPr>
              <a:t> can help us organically reach the engaged audience for that topic.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Promote User-Generated Content (UGC)</a:t>
            </a:r>
            <a:r>
              <a:rPr lang="en-US" dirty="0">
                <a:latin typeface="Arial"/>
                <a:cs typeface="Arial"/>
              </a:rPr>
              <a:t>: Run paid ads that feature top-performing user-generated content tagged with high-engagement hashtags. This approach works well with organic content that resonates more with the target audience.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9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white and brown background with black text&#10;&#10;AI-generated content may be incorrect.">
            <a:extLst>
              <a:ext uri="{FF2B5EF4-FFF2-40B4-BE49-F238E27FC236}">
                <a16:creationId xmlns:a16="http://schemas.microsoft.com/office/drawing/2014/main" id="{385C3E3B-E14A-87F3-F805-2B3A0BF88B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50" r="1" b="21273"/>
          <a:stretch/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205611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radientRise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ShapesVTI</vt:lpstr>
      <vt:lpstr>Instagram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614</cp:revision>
  <dcterms:created xsi:type="dcterms:W3CDTF">2025-04-01T05:34:57Z</dcterms:created>
  <dcterms:modified xsi:type="dcterms:W3CDTF">2025-04-05T15:43:44Z</dcterms:modified>
</cp:coreProperties>
</file>